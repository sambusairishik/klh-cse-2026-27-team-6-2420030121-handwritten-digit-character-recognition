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5"/>
    </p:embeddedFont>
    <p:embeddedFont>
      <p:font typeface="Aptos" charset="1" panose="020B00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https://chatgpt.com/backend-api/estuary/content?id=file_00000000645481f58db25960be6094c4&amp;ts=496929&amp;p=fs&amp;cid=1&amp;sig=b8fb067abd05092281404aa2562183d8997aef71471b6628a3c066c076fcdb54&amp;v=0" TargetMode="External" Type="http://schemas.openxmlformats.org/officeDocument/2006/relationships/hyperlink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9848" y="850392"/>
            <a:ext cx="4663440" cy="301752"/>
            <a:chOff x="0" y="0"/>
            <a:chExt cx="6217920" cy="4023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17920" cy="402336"/>
            </a:xfrm>
            <a:custGeom>
              <a:avLst/>
              <a:gdLst/>
              <a:ahLst/>
              <a:cxnLst/>
              <a:rect r="r" b="b" t="t" l="l"/>
              <a:pathLst>
                <a:path h="402336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62179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69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SECOND PROJECT REVIEW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9848" y="1755648"/>
            <a:ext cx="9875520" cy="2606040"/>
            <a:chOff x="0" y="0"/>
            <a:chExt cx="13167360" cy="3474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167361" cy="3474720"/>
            </a:xfrm>
            <a:custGeom>
              <a:avLst/>
              <a:gdLst/>
              <a:ahLst/>
              <a:cxnLst/>
              <a:rect r="r" b="b" t="t" l="l"/>
              <a:pathLst>
                <a:path h="347472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838" r="0" b="-238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13167360" cy="3465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80"/>
                </a:lnSpc>
              </a:pPr>
              <a:r>
                <a:rPr lang="en-US" b="true" sz="465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AI-Powered</a:t>
              </a:r>
            </a:p>
            <a:p>
              <a:pPr algn="l">
                <a:lnSpc>
                  <a:spcPts val="5580"/>
                </a:lnSpc>
              </a:pPr>
              <a:r>
                <a:rPr lang="en-US" b="true" sz="465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Handwritten Text</a:t>
              </a:r>
            </a:p>
            <a:p>
              <a:pPr algn="l">
                <a:lnSpc>
                  <a:spcPts val="5580"/>
                </a:lnSpc>
              </a:pPr>
              <a:r>
                <a:rPr lang="en-US" b="true" sz="465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Recognition System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4712" y="4636008"/>
            <a:ext cx="6035040" cy="342900"/>
            <a:chOff x="0" y="0"/>
            <a:chExt cx="8046720" cy="457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6720" cy="457200"/>
            </a:xfrm>
            <a:custGeom>
              <a:avLst/>
              <a:gdLst/>
              <a:ahLst/>
              <a:cxnLst/>
              <a:rect r="r" b="b" t="t" l="l"/>
              <a:pathLst>
                <a:path h="4572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046720" cy="4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Engineering Project Presentation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578983"/>
            <a:ext cx="7147560" cy="2141220"/>
            <a:chOff x="0" y="0"/>
            <a:chExt cx="9530080" cy="2854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30080" cy="2854960"/>
            </a:xfrm>
            <a:custGeom>
              <a:avLst/>
              <a:gdLst/>
              <a:ahLst/>
              <a:cxnLst/>
              <a:rect r="r" b="b" t="t" l="l"/>
              <a:pathLst>
                <a:path h="2854960" w="953008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9382760" y="0"/>
                  </a:lnTo>
                  <a:cubicBezTo>
                    <a:pt x="9464167" y="0"/>
                    <a:pt x="9530080" y="65913"/>
                    <a:pt x="9530080" y="147320"/>
                  </a:cubicBezTo>
                  <a:lnTo>
                    <a:pt x="9530080" y="2707640"/>
                  </a:lnTo>
                  <a:cubicBezTo>
                    <a:pt x="9530080" y="2789047"/>
                    <a:pt x="9464167" y="2854960"/>
                    <a:pt x="9382760" y="2854960"/>
                  </a:cubicBezTo>
                  <a:lnTo>
                    <a:pt x="147320" y="2854960"/>
                  </a:lnTo>
                  <a:cubicBezTo>
                    <a:pt x="65913" y="2854960"/>
                    <a:pt x="0" y="2789047"/>
                    <a:pt x="0" y="2707640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26464" y="5870448"/>
            <a:ext cx="2057400" cy="233172"/>
            <a:chOff x="0" y="0"/>
            <a:chExt cx="2743200" cy="310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43200" cy="310896"/>
            </a:xfrm>
            <a:custGeom>
              <a:avLst/>
              <a:gdLst/>
              <a:ahLst/>
              <a:cxnLst/>
              <a:rect r="r" b="b" t="t" l="l"/>
              <a:pathLst>
                <a:path h="310896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926" r="0" b="-1219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743200" cy="310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80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 MEMBERS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44168" y="6131052"/>
            <a:ext cx="4457700" cy="1577340"/>
            <a:chOff x="0" y="0"/>
            <a:chExt cx="5943600" cy="2103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943600" cy="210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M. Satya Charan Reddy    |    2420030166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R. Sai Charan    |    2420030140</a:t>
              </a:r>
            </a:p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S. Sai Rishik    |    2420030121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54980" y="6240780"/>
            <a:ext cx="3566160" cy="754380"/>
            <a:chOff x="0" y="0"/>
            <a:chExt cx="475488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54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111" r="0" b="-421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75488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N. Sunandha Ma’am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24712" y="8298180"/>
            <a:ext cx="6583680" cy="480060"/>
            <a:chOff x="0" y="0"/>
            <a:chExt cx="877824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7782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CSE  •  K L DEEMED TO BE UNIVERSITY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8030718" y="3192161"/>
            <a:ext cx="9691773" cy="3230594"/>
            <a:chOff x="0" y="0"/>
            <a:chExt cx="12922364" cy="430745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22377" cy="4307459"/>
            </a:xfrm>
            <a:custGeom>
              <a:avLst/>
              <a:gdLst/>
              <a:ahLst/>
              <a:cxnLst/>
              <a:rect r="r" b="b" t="t" l="l"/>
              <a:pathLst>
                <a:path h="4307459" w="12922377">
                  <a:moveTo>
                    <a:pt x="0" y="0"/>
                  </a:moveTo>
                  <a:lnTo>
                    <a:pt x="12922377" y="0"/>
                  </a:lnTo>
                  <a:lnTo>
                    <a:pt x="12922377" y="4307459"/>
                  </a:lnTo>
                  <a:lnTo>
                    <a:pt x="0" y="4307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44168" y="6172200"/>
            <a:ext cx="7680960" cy="1645920"/>
            <a:chOff x="0" y="0"/>
            <a:chExt cx="10241280" cy="2194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435608" y="6217920"/>
            <a:ext cx="434340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M. Satya Charan Reddy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R. Sai Charan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S. Sai Rishik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82312" y="6217920"/>
            <a:ext cx="166878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2420030166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2420030140</a:t>
            </a:r>
          </a:p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2420030121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46420" y="6217920"/>
            <a:ext cx="297180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N. Sunandha Ma’am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71600" y="6144768"/>
            <a:ext cx="7612380" cy="1673352"/>
            <a:chOff x="0" y="0"/>
            <a:chExt cx="10149840" cy="22311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49840" cy="2231136"/>
            </a:xfrm>
            <a:custGeom>
              <a:avLst/>
              <a:gdLst/>
              <a:ahLst/>
              <a:cxnLst/>
              <a:rect r="r" b="b" t="t" l="l"/>
              <a:pathLst>
                <a:path h="2231136" w="10149840">
                  <a:moveTo>
                    <a:pt x="0" y="0"/>
                  </a:moveTo>
                  <a:lnTo>
                    <a:pt x="10149840" y="0"/>
                  </a:lnTo>
                  <a:lnTo>
                    <a:pt x="10149840" y="2231136"/>
                  </a:lnTo>
                  <a:lnTo>
                    <a:pt x="0" y="22311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63040" y="6227445"/>
            <a:ext cx="3863340" cy="13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M. Satya Charan Reddy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R. Sai Charan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S. Sai Rishik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35608" y="7293776"/>
            <a:ext cx="1920240" cy="262305"/>
            <a:chOff x="0" y="0"/>
            <a:chExt cx="2560320" cy="3497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349740"/>
            </a:xfrm>
            <a:custGeom>
              <a:avLst/>
              <a:gdLst/>
              <a:ahLst/>
              <a:cxnLst/>
              <a:rect r="r" b="b" t="t" l="l"/>
              <a:pathLst>
                <a:path h="34974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49740"/>
                  </a:lnTo>
                  <a:lnTo>
                    <a:pt x="0" y="349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196" r="0" b="-870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2560320" cy="349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 spc="180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GUIDE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5468112" y="6227445"/>
            <a:ext cx="1531620" cy="13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2420030166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2420030140</a:t>
            </a:r>
          </a:p>
          <a:p>
            <a:pPr algn="l">
              <a:lnSpc>
                <a:spcPts val="2195"/>
              </a:lnSpc>
            </a:pPr>
            <a:r>
              <a:rPr lang="en-US" sz="1829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2420030121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946904" y="7251192"/>
            <a:ext cx="1847088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1C3A4E"/>
                </a:solidFill>
                <a:latin typeface="Aptos"/>
                <a:ea typeface="Aptos"/>
                <a:cs typeface="Aptos"/>
                <a:sym typeface="Aptos"/>
              </a:rPr>
              <a:t>N. Sunandha Ma’am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  PROBLEM STATEMENT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59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Handwriting remains difficult to digitize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84832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The challenge is reliable recognition across varied handwriting styles and image quality.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433828"/>
            <a:ext cx="7216140" cy="6352032"/>
            <a:chOff x="0" y="0"/>
            <a:chExt cx="9621520" cy="8469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21520" cy="8469376"/>
            </a:xfrm>
            <a:custGeom>
              <a:avLst/>
              <a:gdLst/>
              <a:ahLst/>
              <a:cxnLst/>
              <a:rect r="r" b="b" t="t" l="l"/>
              <a:pathLst>
                <a:path h="8469376" w="96215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474835" y="0"/>
                  </a:lnTo>
                  <a:cubicBezTo>
                    <a:pt x="9555861" y="0"/>
                    <a:pt x="9621520" y="65659"/>
                    <a:pt x="9621520" y="146685"/>
                  </a:cubicBezTo>
                  <a:lnTo>
                    <a:pt x="9621520" y="8322691"/>
                  </a:lnTo>
                  <a:cubicBezTo>
                    <a:pt x="9621520" y="8403717"/>
                    <a:pt x="9555861" y="8469376"/>
                    <a:pt x="9474835" y="8469376"/>
                  </a:cubicBezTo>
                  <a:lnTo>
                    <a:pt x="146685" y="8469376"/>
                  </a:lnTo>
                  <a:cubicBezTo>
                    <a:pt x="65659" y="8469376"/>
                    <a:pt x="0" y="8403717"/>
                    <a:pt x="0" y="832269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99032" y="2852928"/>
            <a:ext cx="4389120" cy="384048"/>
            <a:chOff x="0" y="0"/>
            <a:chExt cx="5852160" cy="5120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512064"/>
            </a:xfrm>
            <a:custGeom>
              <a:avLst/>
              <a:gdLst/>
              <a:ahLst/>
              <a:cxnLst/>
              <a:rect r="r" b="b" t="t" l="l"/>
              <a:pathLst>
                <a:path h="51206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85216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Clearly Defined Problem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9032" y="3497580"/>
            <a:ext cx="6240780" cy="1261872"/>
            <a:chOff x="0" y="0"/>
            <a:chExt cx="8321040" cy="16824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321040" cy="1682496"/>
            </a:xfrm>
            <a:custGeom>
              <a:avLst/>
              <a:gdLst/>
              <a:ahLst/>
              <a:cxnLst/>
              <a:rect r="r" b="b" t="t" l="l"/>
              <a:pathLst>
                <a:path h="168249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366" r="0" b="-463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321040" cy="1682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Handwriting varies significantly across character shape, size, spacing, writing style and alignment. Manual transcription is time-consuming, repetitive and prone to errors.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9032" y="4965192"/>
            <a:ext cx="6240780" cy="987552"/>
            <a:chOff x="0" y="0"/>
            <a:chExt cx="8321040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3210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134" r="0" b="-7313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32104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Existing OCR systems are generally stronger for printed text and may struggle with cursive, irregular or low-quality handwriting.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91412" y="6466332"/>
            <a:ext cx="6256020" cy="1633728"/>
            <a:chOff x="0" y="0"/>
            <a:chExt cx="8341360" cy="21783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41360" cy="2178304"/>
            </a:xfrm>
            <a:custGeom>
              <a:avLst/>
              <a:gdLst/>
              <a:ahLst/>
              <a:cxnLst/>
              <a:rect r="r" b="b" t="t" l="l"/>
              <a:pathLst>
                <a:path h="2178304" w="834136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8193659" y="0"/>
                  </a:lnTo>
                  <a:cubicBezTo>
                    <a:pt x="8275193" y="0"/>
                    <a:pt x="8341360" y="66167"/>
                    <a:pt x="8341360" y="147701"/>
                  </a:cubicBezTo>
                  <a:lnTo>
                    <a:pt x="8341360" y="2030603"/>
                  </a:lnTo>
                  <a:cubicBezTo>
                    <a:pt x="8341360" y="2112137"/>
                    <a:pt x="8275193" y="2178304"/>
                    <a:pt x="8193659" y="2178304"/>
                  </a:cubicBezTo>
                  <a:lnTo>
                    <a:pt x="147701" y="2178304"/>
                  </a:lnTo>
                  <a:cubicBezTo>
                    <a:pt x="66167" y="2178304"/>
                    <a:pt x="0" y="2112137"/>
                    <a:pt x="0" y="2030603"/>
                  </a:cubicBezTo>
                  <a:close/>
                </a:path>
              </a:pathLst>
            </a:custGeom>
            <a:solidFill>
              <a:srgbClr val="E8F7F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14500" y="6803136"/>
            <a:ext cx="1645920" cy="274320"/>
            <a:chOff x="0" y="0"/>
            <a:chExt cx="2194560" cy="365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" cy="365760"/>
            </a:xfrm>
            <a:custGeom>
              <a:avLst/>
              <a:gdLst/>
              <a:ahLst/>
              <a:cxnLst/>
              <a:rect r="r" b="b" t="t" l="l"/>
              <a:pathLst>
                <a:path h="36576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19456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4C9B8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Motivation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14500" y="7200900"/>
            <a:ext cx="5417820" cy="548640"/>
            <a:chOff x="0" y="0"/>
            <a:chExt cx="72237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2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414" r="0" b="-14241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22376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Make handwritten information easier to digitize, edit, store, search and process.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35212" y="5588508"/>
            <a:ext cx="3649980" cy="1002792"/>
            <a:chOff x="0" y="0"/>
            <a:chExt cx="4866640" cy="1337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189720" y="5788152"/>
            <a:ext cx="3017520" cy="246888"/>
            <a:chOff x="0" y="0"/>
            <a:chExt cx="4023360" cy="3291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Digitization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89720" y="6131052"/>
            <a:ext cx="3017520" cy="219456"/>
            <a:chOff x="0" y="0"/>
            <a:chExt cx="4023360" cy="2926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Convert paper records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981432" y="5588508"/>
            <a:ext cx="3649980" cy="1002792"/>
            <a:chOff x="0" y="0"/>
            <a:chExt cx="4866640" cy="1337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7F5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235940" y="5788152"/>
            <a:ext cx="3017520" cy="246888"/>
            <a:chOff x="0" y="0"/>
            <a:chExt cx="4023360" cy="32918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Editable notes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235940" y="6131052"/>
            <a:ext cx="3017520" cy="219456"/>
            <a:chOff x="0" y="0"/>
            <a:chExt cx="4023360" cy="2926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Reduce retyping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935212" y="6932676"/>
            <a:ext cx="3649980" cy="1002792"/>
            <a:chOff x="0" y="0"/>
            <a:chExt cx="4866640" cy="1337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189720" y="7132320"/>
            <a:ext cx="3017520" cy="246888"/>
            <a:chOff x="0" y="0"/>
            <a:chExt cx="4023360" cy="3291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Searchable data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189720" y="7475220"/>
            <a:ext cx="3017520" cy="219456"/>
            <a:chOff x="0" y="0"/>
            <a:chExt cx="4023360" cy="2926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Store and retrieve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81432" y="6932676"/>
            <a:ext cx="3649980" cy="1002792"/>
            <a:chOff x="0" y="0"/>
            <a:chExt cx="4866640" cy="133705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866640" cy="1337056"/>
            </a:xfrm>
            <a:custGeom>
              <a:avLst/>
              <a:gdLst/>
              <a:ahLst/>
              <a:cxnLst/>
              <a:rect r="r" b="b" t="t" l="l"/>
              <a:pathLst>
                <a:path h="1337056" w="4866640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4718050" y="0"/>
                  </a:lnTo>
                  <a:cubicBezTo>
                    <a:pt x="4800092" y="0"/>
                    <a:pt x="4866640" y="66548"/>
                    <a:pt x="4866640" y="148590"/>
                  </a:cubicBezTo>
                  <a:lnTo>
                    <a:pt x="4866640" y="1188466"/>
                  </a:lnTo>
                  <a:cubicBezTo>
                    <a:pt x="4866640" y="1270508"/>
                    <a:pt x="4800092" y="1337056"/>
                    <a:pt x="4718050" y="1337056"/>
                  </a:cubicBezTo>
                  <a:lnTo>
                    <a:pt x="148590" y="1337056"/>
                  </a:lnTo>
                  <a:cubicBezTo>
                    <a:pt x="66548" y="1337056"/>
                    <a:pt x="0" y="1270508"/>
                    <a:pt x="0" y="1188466"/>
                  </a:cubicBezTo>
                  <a:close/>
                </a:path>
              </a:pathLst>
            </a:custGeom>
            <a:solidFill>
              <a:srgbClr val="E8F7F5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235940" y="7132320"/>
            <a:ext cx="3017520" cy="246888"/>
            <a:chOff x="0" y="0"/>
            <a:chExt cx="4023360" cy="3291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02336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Automated entry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235940" y="7475220"/>
            <a:ext cx="3017520" cy="219456"/>
            <a:chOff x="0" y="0"/>
            <a:chExt cx="4023360" cy="2926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23360" cy="292608"/>
            </a:xfrm>
            <a:custGeom>
              <a:avLst/>
              <a:gdLst/>
              <a:ahLst/>
              <a:cxnLst/>
              <a:rect r="r" b="b" t="t" l="l"/>
              <a:pathLst>
                <a:path h="29260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0233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Lower manual effort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542782" y="2169414"/>
            <a:ext cx="8757666" cy="2919222"/>
            <a:chOff x="0" y="0"/>
            <a:chExt cx="11676888" cy="389229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676888" cy="3892296"/>
            </a:xfrm>
            <a:custGeom>
              <a:avLst/>
              <a:gdLst/>
              <a:ahLst/>
              <a:cxnLst/>
              <a:rect r="r" b="b" t="t" l="l"/>
              <a:pathLst>
                <a:path h="3892296" w="11676888">
                  <a:moveTo>
                    <a:pt x="0" y="0"/>
                  </a:moveTo>
                  <a:lnTo>
                    <a:pt x="11676888" y="0"/>
                  </a:lnTo>
                  <a:lnTo>
                    <a:pt x="11676888" y="3892296"/>
                  </a:lnTo>
                  <a:lnTo>
                    <a:pt x="0" y="3892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  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 spc="59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Four measurable objectives define the build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The project moves from image preparation to recognition, evaluation and usable digital output.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763012"/>
            <a:ext cx="3828288" cy="3471672"/>
            <a:chOff x="0" y="0"/>
            <a:chExt cx="5104384" cy="4628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79932" y="2763012"/>
            <a:ext cx="3828288" cy="97536"/>
            <a:chOff x="0" y="0"/>
            <a:chExt cx="5104384" cy="1300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9304" y="3355343"/>
            <a:ext cx="576072" cy="246888"/>
            <a:chOff x="0" y="0"/>
            <a:chExt cx="768096" cy="3291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6809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73C7C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9304" y="3711959"/>
            <a:ext cx="3209544" cy="411480"/>
            <a:chOff x="0" y="0"/>
            <a:chExt cx="4279392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Image Processing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81684" y="4239263"/>
            <a:ext cx="646176" cy="49530"/>
            <a:chOff x="0" y="0"/>
            <a:chExt cx="861568" cy="66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89304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Prepare handwritten images using resizing, normalization and noise reduction.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204460" y="2763012"/>
            <a:ext cx="3828288" cy="3471672"/>
            <a:chOff x="0" y="0"/>
            <a:chExt cx="5104384" cy="4628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204460" y="2763012"/>
            <a:ext cx="3828288" cy="97536"/>
            <a:chOff x="0" y="0"/>
            <a:chExt cx="5104384" cy="1300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513832" y="3355343"/>
            <a:ext cx="576072" cy="246888"/>
            <a:chOff x="0" y="0"/>
            <a:chExt cx="768096" cy="329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6809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13832" y="3711959"/>
            <a:ext cx="3209544" cy="411480"/>
            <a:chOff x="0" y="0"/>
            <a:chExt cx="4279392" cy="548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Text Recognition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506212" y="4239263"/>
            <a:ext cx="646176" cy="49530"/>
            <a:chOff x="0" y="0"/>
            <a:chExt cx="861568" cy="66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513832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Develop or integrate an AI model for handwritten character, word or line recognition.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28988" y="2763012"/>
            <a:ext cx="3828288" cy="3471672"/>
            <a:chOff x="0" y="0"/>
            <a:chExt cx="5104384" cy="462889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428988" y="2763012"/>
            <a:ext cx="3828288" cy="97536"/>
            <a:chOff x="0" y="0"/>
            <a:chExt cx="5104384" cy="1300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738360" y="3355343"/>
            <a:ext cx="576072" cy="246888"/>
            <a:chOff x="0" y="0"/>
            <a:chExt cx="768096" cy="3291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768096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738360" y="3711959"/>
            <a:ext cx="3209544" cy="411480"/>
            <a:chOff x="0" y="0"/>
            <a:chExt cx="4279392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Evaluation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730740" y="4239263"/>
            <a:ext cx="646176" cy="49530"/>
            <a:chOff x="0" y="0"/>
            <a:chExt cx="861568" cy="66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9738360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Evaluate CER, WER and recognition accuracy on a representative test set.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653516" y="2763012"/>
            <a:ext cx="3828288" cy="3471672"/>
            <a:chOff x="0" y="0"/>
            <a:chExt cx="5104384" cy="4628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04384" cy="4628896"/>
            </a:xfrm>
            <a:custGeom>
              <a:avLst/>
              <a:gdLst/>
              <a:ahLst/>
              <a:cxnLst/>
              <a:rect r="r" b="b" t="t" l="l"/>
              <a:pathLst>
                <a:path h="4628896" w="51043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957445" y="0"/>
                  </a:lnTo>
                  <a:cubicBezTo>
                    <a:pt x="5038598" y="0"/>
                    <a:pt x="5104384" y="65786"/>
                    <a:pt x="5104384" y="146939"/>
                  </a:cubicBezTo>
                  <a:lnTo>
                    <a:pt x="5104384" y="4481957"/>
                  </a:lnTo>
                  <a:cubicBezTo>
                    <a:pt x="5104384" y="4563110"/>
                    <a:pt x="5038598" y="4628896"/>
                    <a:pt x="4957445" y="4628896"/>
                  </a:cubicBezTo>
                  <a:lnTo>
                    <a:pt x="146939" y="4628896"/>
                  </a:lnTo>
                  <a:cubicBezTo>
                    <a:pt x="65786" y="4628896"/>
                    <a:pt x="0" y="4563110"/>
                    <a:pt x="0" y="4481957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53516" y="2763012"/>
            <a:ext cx="3828288" cy="97536"/>
            <a:chOff x="0" y="0"/>
            <a:chExt cx="5104384" cy="1300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04384" cy="130048"/>
            </a:xfrm>
            <a:custGeom>
              <a:avLst/>
              <a:gdLst/>
              <a:ahLst/>
              <a:cxnLst/>
              <a:rect r="r" b="b" t="t" l="l"/>
              <a:pathLst>
                <a:path h="1300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130048"/>
                  </a:lnTo>
                  <a:lnTo>
                    <a:pt x="0" y="130048"/>
                  </a:lnTo>
                  <a:close/>
                </a:path>
              </a:pathLst>
            </a:custGeom>
            <a:solidFill>
              <a:srgbClr val="4C9B8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962888" y="3355343"/>
            <a:ext cx="576072" cy="246888"/>
            <a:chOff x="0" y="0"/>
            <a:chExt cx="768096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8096" cy="329184"/>
            </a:xfrm>
            <a:custGeom>
              <a:avLst/>
              <a:gdLst/>
              <a:ahLst/>
              <a:cxnLst/>
              <a:rect r="r" b="b" t="t" l="l"/>
              <a:pathLst>
                <a:path h="329184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87" t="0" r="-498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768096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4C9B8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62888" y="3711959"/>
            <a:ext cx="3209544" cy="411480"/>
            <a:chOff x="0" y="0"/>
            <a:chExt cx="4279392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279392" cy="548640"/>
            </a:xfrm>
            <a:custGeom>
              <a:avLst/>
              <a:gdLst/>
              <a:ahLst/>
              <a:cxnLst/>
              <a:rect r="r" b="b" t="t" l="l"/>
              <a:pathLst>
                <a:path h="548640" w="4279392">
                  <a:moveTo>
                    <a:pt x="0" y="0"/>
                  </a:moveTo>
                  <a:lnTo>
                    <a:pt x="4279392" y="0"/>
                  </a:lnTo>
                  <a:lnTo>
                    <a:pt x="42793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983" r="0" b="-10198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27939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Text Generation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955268" y="4239263"/>
            <a:ext cx="646176" cy="49530"/>
            <a:chOff x="0" y="0"/>
            <a:chExt cx="861568" cy="660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61568" cy="66040"/>
            </a:xfrm>
            <a:custGeom>
              <a:avLst/>
              <a:gdLst/>
              <a:ahLst/>
              <a:cxnLst/>
              <a:rect r="r" b="b" t="t" l="l"/>
              <a:pathLst>
                <a:path h="66040" w="861568">
                  <a:moveTo>
                    <a:pt x="0" y="0"/>
                  </a:moveTo>
                  <a:lnTo>
                    <a:pt x="861568" y="0"/>
                  </a:lnTo>
                  <a:lnTo>
                    <a:pt x="861568" y="66040"/>
                  </a:lnTo>
                  <a:lnTo>
                    <a:pt x="0" y="66040"/>
                  </a:lnTo>
                  <a:close/>
                </a:path>
              </a:pathLst>
            </a:custGeom>
            <a:solidFill>
              <a:srgbClr val="4C9B83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3962888" y="4418333"/>
            <a:ext cx="3209544" cy="1561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175">
                <a:solidFill>
                  <a:srgbClr val="5B707D"/>
                </a:solidFill>
                <a:latin typeface="Aptos"/>
                <a:ea typeface="Aptos"/>
                <a:cs typeface="Aptos"/>
                <a:sym typeface="Aptos"/>
              </a:rPr>
              <a:t>Generate clear, editable and searchable digital text.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028700" y="6940296"/>
            <a:ext cx="3017520" cy="246888"/>
            <a:chOff x="0" y="0"/>
            <a:chExt cx="4023360" cy="3291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23360" cy="329184"/>
            </a:xfrm>
            <a:custGeom>
              <a:avLst/>
              <a:gdLst/>
              <a:ahLst/>
              <a:cxnLst/>
              <a:rect r="r" b="b" t="t" l="l"/>
              <a:pathLst>
                <a:path h="329184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150" r="0" b="-18815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40233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79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EXPECTED OUTCOMES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19175" y="7451979"/>
            <a:ext cx="677418" cy="677418"/>
            <a:chOff x="0" y="0"/>
            <a:chExt cx="903224" cy="9032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69848" y="7543800"/>
            <a:ext cx="576072" cy="356616"/>
            <a:chOff x="0" y="0"/>
            <a:chExt cx="768096" cy="4754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879092" y="7584948"/>
            <a:ext cx="3840480" cy="274320"/>
            <a:chOff x="0" y="0"/>
            <a:chExt cx="5120640" cy="3657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Functional prototype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05575" y="7451979"/>
            <a:ext cx="677418" cy="677418"/>
            <a:chOff x="0" y="0"/>
            <a:chExt cx="903224" cy="90322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556248" y="7543800"/>
            <a:ext cx="576072" cy="356616"/>
            <a:chOff x="0" y="0"/>
            <a:chExt cx="768096" cy="4754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365492" y="7584948"/>
            <a:ext cx="3840480" cy="274320"/>
            <a:chOff x="0" y="0"/>
            <a:chExt cx="5120640" cy="365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Automatic conversion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991975" y="7451979"/>
            <a:ext cx="677418" cy="677418"/>
            <a:chOff x="0" y="0"/>
            <a:chExt cx="903224" cy="90322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042648" y="7543800"/>
            <a:ext cx="576072" cy="356616"/>
            <a:chOff x="0" y="0"/>
            <a:chExt cx="768096" cy="47548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851892" y="7584948"/>
            <a:ext cx="3840480" cy="274320"/>
            <a:chOff x="0" y="0"/>
            <a:chExt cx="5120640" cy="3657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Measurable accuracy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19175" y="8302371"/>
            <a:ext cx="677418" cy="677418"/>
            <a:chOff x="0" y="0"/>
            <a:chExt cx="903224" cy="90322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69848" y="8394192"/>
            <a:ext cx="576072" cy="356616"/>
            <a:chOff x="0" y="0"/>
            <a:chExt cx="768096" cy="47548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879092" y="8435340"/>
            <a:ext cx="3840480" cy="274320"/>
            <a:chOff x="0" y="0"/>
            <a:chExt cx="5120640" cy="3657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Reduced transcription effort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6505575" y="8302371"/>
            <a:ext cx="677418" cy="677418"/>
            <a:chOff x="0" y="0"/>
            <a:chExt cx="903224" cy="90322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03224" cy="903224"/>
            </a:xfrm>
            <a:custGeom>
              <a:avLst/>
              <a:gdLst/>
              <a:ahLst/>
              <a:cxnLst/>
              <a:rect r="r" b="b" t="t" l="l"/>
              <a:pathLst>
                <a:path h="903224" w="903224">
                  <a:moveTo>
                    <a:pt x="0" y="451612"/>
                  </a:moveTo>
                  <a:cubicBezTo>
                    <a:pt x="0" y="202184"/>
                    <a:pt x="202184" y="0"/>
                    <a:pt x="451612" y="0"/>
                  </a:cubicBezTo>
                  <a:cubicBezTo>
                    <a:pt x="701040" y="0"/>
                    <a:pt x="903224" y="202184"/>
                    <a:pt x="903224" y="451612"/>
                  </a:cubicBezTo>
                  <a:cubicBezTo>
                    <a:pt x="903224" y="701040"/>
                    <a:pt x="701040" y="903224"/>
                    <a:pt x="451612" y="903224"/>
                  </a:cubicBezTo>
                  <a:cubicBezTo>
                    <a:pt x="202184" y="903224"/>
                    <a:pt x="0" y="701040"/>
                    <a:pt x="0" y="451612"/>
                  </a:cubicBez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6556248" y="8394192"/>
            <a:ext cx="576072" cy="356616"/>
            <a:chOff x="0" y="0"/>
            <a:chExt cx="768096" cy="47548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8096" cy="475488"/>
            </a:xfrm>
            <a:custGeom>
              <a:avLst/>
              <a:gdLst/>
              <a:ahLst/>
              <a:cxnLst/>
              <a:rect r="r" b="b" t="t" l="l"/>
              <a:pathLst>
                <a:path h="475488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426" t="0" r="-29426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768096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✓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7365492" y="8435340"/>
            <a:ext cx="3840480" cy="274320"/>
            <a:chOff x="0" y="0"/>
            <a:chExt cx="5120640" cy="3657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120640" cy="365760"/>
            </a:xfrm>
            <a:custGeom>
              <a:avLst/>
              <a:gdLst/>
              <a:ahLst/>
              <a:cxnLst/>
              <a:rect r="r" b="b" t="t" l="l"/>
              <a:pathLst>
                <a:path h="3657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51206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User-friendly output</a:t>
              </a:r>
            </a:p>
          </p:txBody>
        </p:sp>
      </p:grpSp>
      <p:sp>
        <p:nvSpPr>
          <p:cNvPr name="AutoShape 106" id="106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7" id="107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Freeform 110" id="110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 LITERATURE SURVEY / EXISTING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7191" y="603504"/>
            <a:ext cx="15822098" cy="1451991"/>
            <a:chOff x="0" y="0"/>
            <a:chExt cx="20848320" cy="19132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1913246"/>
            </a:xfrm>
            <a:custGeom>
              <a:avLst/>
              <a:gdLst/>
              <a:ahLst/>
              <a:cxnLst/>
              <a:rect r="r" b="b" t="t" l="l"/>
              <a:pathLst>
                <a:path h="191324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913246"/>
                  </a:lnTo>
                  <a:lnTo>
                    <a:pt x="0" y="1913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472" r="0" b="-13717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20848320" cy="1903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spc="45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Existing approaches trade simplicity against sequence robustness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The comparison motivates a practical design that balances accuracy, robustness and computational efficiency.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543556"/>
            <a:ext cx="16474440" cy="783336"/>
            <a:chOff x="0" y="0"/>
            <a:chExt cx="21965920" cy="10444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5920" cy="1044448"/>
            </a:xfrm>
            <a:custGeom>
              <a:avLst/>
              <a:gdLst/>
              <a:ahLst/>
              <a:cxnLst/>
              <a:rect r="r" b="b" t="t" l="l"/>
              <a:pathLst>
                <a:path h="1044448" w="21965920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1816695" y="0"/>
                  </a:lnTo>
                  <a:cubicBezTo>
                    <a:pt x="21899118" y="0"/>
                    <a:pt x="21965920" y="66802"/>
                    <a:pt x="21965920" y="149225"/>
                  </a:cubicBezTo>
                  <a:lnTo>
                    <a:pt x="21965920" y="895223"/>
                  </a:lnTo>
                  <a:cubicBezTo>
                    <a:pt x="21965920" y="977646"/>
                    <a:pt x="21899118" y="1044448"/>
                    <a:pt x="21816695" y="1044448"/>
                  </a:cubicBezTo>
                  <a:lnTo>
                    <a:pt x="149225" y="1044448"/>
                  </a:lnTo>
                  <a:cubicBezTo>
                    <a:pt x="66802" y="1044448"/>
                    <a:pt x="0" y="977646"/>
                    <a:pt x="0" y="895223"/>
                  </a:cubicBezTo>
                  <a:close/>
                </a:path>
              </a:pathLst>
            </a:custGeom>
            <a:solidFill>
              <a:srgbClr val="153B5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798064"/>
            <a:ext cx="2468880" cy="246888"/>
            <a:chOff x="0" y="0"/>
            <a:chExt cx="3291840" cy="329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91840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2918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APPROACH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02352" y="2798064"/>
            <a:ext cx="3223260" cy="246888"/>
            <a:chOff x="0" y="0"/>
            <a:chExt cx="4297680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97680" cy="329184"/>
            </a:xfrm>
            <a:custGeom>
              <a:avLst/>
              <a:gdLst/>
              <a:ahLst/>
              <a:cxnLst/>
              <a:rect r="r" b="b" t="t" l="l"/>
              <a:pathLst>
                <a:path h="32918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42976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TECHNIQUE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17152" y="2798064"/>
            <a:ext cx="3223260" cy="246888"/>
            <a:chOff x="0" y="0"/>
            <a:chExt cx="4297680" cy="3291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97680" cy="329184"/>
            </a:xfrm>
            <a:custGeom>
              <a:avLst/>
              <a:gdLst/>
              <a:ahLst/>
              <a:cxnLst/>
              <a:rect r="r" b="b" t="t" l="l"/>
              <a:pathLst>
                <a:path h="32918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2976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ADVANTAGES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31952" y="2798064"/>
            <a:ext cx="3223260" cy="246888"/>
            <a:chOff x="0" y="0"/>
            <a:chExt cx="4297680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97680" cy="329184"/>
            </a:xfrm>
            <a:custGeom>
              <a:avLst/>
              <a:gdLst/>
              <a:ahLst/>
              <a:cxnLst/>
              <a:rect r="r" b="b" t="t" l="l"/>
              <a:pathLst>
                <a:path h="329184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387" r="0" b="-2043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2976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LIMITATIONS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79932" y="3503676"/>
            <a:ext cx="16474440" cy="1139952"/>
            <a:chOff x="0" y="0"/>
            <a:chExt cx="21965920" cy="15199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65921" cy="1519936"/>
            </a:xfrm>
            <a:custGeom>
              <a:avLst/>
              <a:gdLst/>
              <a:ahLst/>
              <a:cxnLst/>
              <a:rect r="r" b="b" t="t" l="l"/>
              <a:pathLst>
                <a:path h="1519936" w="2196592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1817585" y="0"/>
                  </a:lnTo>
                  <a:cubicBezTo>
                    <a:pt x="21899499" y="0"/>
                    <a:pt x="21965921" y="66421"/>
                    <a:pt x="21965921" y="148336"/>
                  </a:cubicBezTo>
                  <a:lnTo>
                    <a:pt x="21965921" y="1371600"/>
                  </a:lnTo>
                  <a:cubicBezTo>
                    <a:pt x="21965921" y="1453515"/>
                    <a:pt x="21899499" y="1519936"/>
                    <a:pt x="21817585" y="1519936"/>
                  </a:cubicBezTo>
                  <a:lnTo>
                    <a:pt x="148336" y="1519936"/>
                  </a:lnTo>
                  <a:cubicBezTo>
                    <a:pt x="66421" y="1519936"/>
                    <a:pt x="0" y="1453515"/>
                    <a:pt x="0" y="1371600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79932" y="3503676"/>
            <a:ext cx="111252" cy="1139952"/>
            <a:chOff x="0" y="0"/>
            <a:chExt cx="148336" cy="15199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8336" cy="1519936"/>
            </a:xfrm>
            <a:custGeom>
              <a:avLst/>
              <a:gdLst/>
              <a:ahLst/>
              <a:cxnLst/>
              <a:rect r="r" b="b" t="t" l="l"/>
              <a:pathLst>
                <a:path h="1519936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1519936"/>
                  </a:lnTo>
                  <a:lnTo>
                    <a:pt x="0" y="1519936"/>
                  </a:lnTo>
                  <a:close/>
                </a:path>
              </a:pathLst>
            </a:custGeom>
            <a:solidFill>
              <a:srgbClr val="5D748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89304" y="3744468"/>
            <a:ext cx="3360420" cy="466344"/>
            <a:chOff x="0" y="0"/>
            <a:chExt cx="4480560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4805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Traditional OCR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02352" y="3689604"/>
            <a:ext cx="3497580" cy="630936"/>
            <a:chOff x="0" y="0"/>
            <a:chExt cx="4663440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Image processing and handcrafted features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17152" y="3689604"/>
            <a:ext cx="3497580" cy="630936"/>
            <a:chOff x="0" y="0"/>
            <a:chExt cx="4663440" cy="8412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Simple; lightweight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31952" y="3689604"/>
            <a:ext cx="3593592" cy="630936"/>
            <a:chOff x="0" y="0"/>
            <a:chExt cx="4791456" cy="8412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91456" cy="841248"/>
            </a:xfrm>
            <a:custGeom>
              <a:avLst/>
              <a:gdLst/>
              <a:ahLst/>
              <a:cxnLst/>
              <a:rect r="r" b="b" t="t" l="l"/>
              <a:pathLst>
                <a:path h="841248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0" r="0" b="-609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791456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Mainly printed text; weak to handwriting variation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9932" y="4847844"/>
            <a:ext cx="16474440" cy="1139952"/>
            <a:chOff x="0" y="0"/>
            <a:chExt cx="21965920" cy="15199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965921" cy="1519936"/>
            </a:xfrm>
            <a:custGeom>
              <a:avLst/>
              <a:gdLst/>
              <a:ahLst/>
              <a:cxnLst/>
              <a:rect r="r" b="b" t="t" l="l"/>
              <a:pathLst>
                <a:path h="1519936" w="2196592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1817585" y="0"/>
                  </a:lnTo>
                  <a:cubicBezTo>
                    <a:pt x="21899499" y="0"/>
                    <a:pt x="21965921" y="66421"/>
                    <a:pt x="21965921" y="148336"/>
                  </a:cubicBezTo>
                  <a:lnTo>
                    <a:pt x="21965921" y="1371600"/>
                  </a:lnTo>
                  <a:cubicBezTo>
                    <a:pt x="21965921" y="1453515"/>
                    <a:pt x="21899499" y="1519936"/>
                    <a:pt x="21817585" y="1519936"/>
                  </a:cubicBezTo>
                  <a:lnTo>
                    <a:pt x="148336" y="1519936"/>
                  </a:lnTo>
                  <a:cubicBezTo>
                    <a:pt x="66421" y="1519936"/>
                    <a:pt x="0" y="1453515"/>
                    <a:pt x="0" y="1371600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79932" y="4847844"/>
            <a:ext cx="111252" cy="1139952"/>
            <a:chOff x="0" y="0"/>
            <a:chExt cx="148336" cy="15199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8336" cy="1519936"/>
            </a:xfrm>
            <a:custGeom>
              <a:avLst/>
              <a:gdLst/>
              <a:ahLst/>
              <a:cxnLst/>
              <a:rect r="r" b="b" t="t" l="l"/>
              <a:pathLst>
                <a:path h="1519936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1519936"/>
                  </a:lnTo>
                  <a:lnTo>
                    <a:pt x="0" y="1519936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89304" y="5088636"/>
            <a:ext cx="3360420" cy="466344"/>
            <a:chOff x="0" y="0"/>
            <a:chExt cx="4480560" cy="62179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4805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CNN-Based Recognition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102352" y="5033772"/>
            <a:ext cx="3497580" cy="630936"/>
            <a:chOff x="0" y="0"/>
            <a:chExt cx="4663440" cy="84124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CNN-based visual feature extraction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17152" y="5033772"/>
            <a:ext cx="3497580" cy="630936"/>
            <a:chOff x="0" y="0"/>
            <a:chExt cx="4663440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Effective for character/image recognition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31952" y="5033772"/>
            <a:ext cx="3593592" cy="630936"/>
            <a:chOff x="0" y="0"/>
            <a:chExt cx="4791456" cy="8412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91456" cy="841248"/>
            </a:xfrm>
            <a:custGeom>
              <a:avLst/>
              <a:gdLst/>
              <a:ahLst/>
              <a:cxnLst/>
              <a:rect r="r" b="b" t="t" l="l"/>
              <a:pathLst>
                <a:path h="841248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0" r="0" b="-6098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791456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Limited for long sequences; needs prepared input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79932" y="6192012"/>
            <a:ext cx="16474440" cy="1139952"/>
            <a:chOff x="0" y="0"/>
            <a:chExt cx="21965920" cy="15199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65921" cy="1519936"/>
            </a:xfrm>
            <a:custGeom>
              <a:avLst/>
              <a:gdLst/>
              <a:ahLst/>
              <a:cxnLst/>
              <a:rect r="r" b="b" t="t" l="l"/>
              <a:pathLst>
                <a:path h="1519936" w="2196592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1817585" y="0"/>
                  </a:lnTo>
                  <a:cubicBezTo>
                    <a:pt x="21899499" y="0"/>
                    <a:pt x="21965921" y="66421"/>
                    <a:pt x="21965921" y="148336"/>
                  </a:cubicBezTo>
                  <a:lnTo>
                    <a:pt x="21965921" y="1371600"/>
                  </a:lnTo>
                  <a:cubicBezTo>
                    <a:pt x="21965921" y="1453515"/>
                    <a:pt x="21899499" y="1519936"/>
                    <a:pt x="21817585" y="1519936"/>
                  </a:cubicBezTo>
                  <a:lnTo>
                    <a:pt x="148336" y="1519936"/>
                  </a:lnTo>
                  <a:cubicBezTo>
                    <a:pt x="66421" y="1519936"/>
                    <a:pt x="0" y="1453515"/>
                    <a:pt x="0" y="1371600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79932" y="6192012"/>
            <a:ext cx="111252" cy="1139952"/>
            <a:chOff x="0" y="0"/>
            <a:chExt cx="148336" cy="15199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8336" cy="1519936"/>
            </a:xfrm>
            <a:custGeom>
              <a:avLst/>
              <a:gdLst/>
              <a:ahLst/>
              <a:cxnLst/>
              <a:rect r="r" b="b" t="t" l="l"/>
              <a:pathLst>
                <a:path h="1519936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1519936"/>
                  </a:lnTo>
                  <a:lnTo>
                    <a:pt x="0" y="1519936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89304" y="6432804"/>
            <a:ext cx="3360420" cy="466344"/>
            <a:chOff x="0" y="0"/>
            <a:chExt cx="4480560" cy="6217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44805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CNN + LSTM + CTC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5102352" y="6377940"/>
            <a:ext cx="3497580" cy="630936"/>
            <a:chOff x="0" y="0"/>
            <a:chExt cx="4663440" cy="8412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CNN extraction + LSTM sequence model + CTC alignment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17152" y="6377940"/>
            <a:ext cx="3497580" cy="630936"/>
            <a:chOff x="0" y="0"/>
            <a:chExt cx="4663440" cy="84124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Handles variable-length sequences; suitable for words/lines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331952" y="6377940"/>
            <a:ext cx="3593592" cy="630936"/>
            <a:chOff x="0" y="0"/>
            <a:chExt cx="4791456" cy="84124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791456" cy="841248"/>
            </a:xfrm>
            <a:custGeom>
              <a:avLst/>
              <a:gdLst/>
              <a:ahLst/>
              <a:cxnLst/>
              <a:rect r="r" b="b" t="t" l="l"/>
              <a:pathLst>
                <a:path h="841248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0" r="0" b="-6098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791456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Higher compute; complex training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79932" y="7536180"/>
            <a:ext cx="16474440" cy="1139952"/>
            <a:chOff x="0" y="0"/>
            <a:chExt cx="21965920" cy="15199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965921" cy="1519936"/>
            </a:xfrm>
            <a:custGeom>
              <a:avLst/>
              <a:gdLst/>
              <a:ahLst/>
              <a:cxnLst/>
              <a:rect r="r" b="b" t="t" l="l"/>
              <a:pathLst>
                <a:path h="1519936" w="21965921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1817585" y="0"/>
                  </a:lnTo>
                  <a:cubicBezTo>
                    <a:pt x="21899499" y="0"/>
                    <a:pt x="21965921" y="66421"/>
                    <a:pt x="21965921" y="148336"/>
                  </a:cubicBezTo>
                  <a:lnTo>
                    <a:pt x="21965921" y="1371600"/>
                  </a:lnTo>
                  <a:cubicBezTo>
                    <a:pt x="21965921" y="1453515"/>
                    <a:pt x="21899499" y="1519936"/>
                    <a:pt x="21817585" y="1519936"/>
                  </a:cubicBezTo>
                  <a:lnTo>
                    <a:pt x="148336" y="1519936"/>
                  </a:lnTo>
                  <a:cubicBezTo>
                    <a:pt x="66421" y="1519936"/>
                    <a:pt x="0" y="1453515"/>
                    <a:pt x="0" y="1371600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79932" y="7536180"/>
            <a:ext cx="111252" cy="1139952"/>
            <a:chOff x="0" y="0"/>
            <a:chExt cx="148336" cy="15199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48336" cy="1519936"/>
            </a:xfrm>
            <a:custGeom>
              <a:avLst/>
              <a:gdLst/>
              <a:ahLst/>
              <a:cxnLst/>
              <a:rect r="r" b="b" t="t" l="l"/>
              <a:pathLst>
                <a:path h="1519936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1519936"/>
                  </a:lnTo>
                  <a:lnTo>
                    <a:pt x="0" y="1519936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89304" y="7776972"/>
            <a:ext cx="3360420" cy="466344"/>
            <a:chOff x="0" y="0"/>
            <a:chExt cx="4480560" cy="6217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80560" cy="621792"/>
            </a:xfrm>
            <a:custGeom>
              <a:avLst/>
              <a:gdLst/>
              <a:ahLst/>
              <a:cxnLst/>
              <a:rect r="r" b="b" t="t" l="l"/>
              <a:pathLst>
                <a:path h="621792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4480560" cy="621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Transformer-Based HTR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102352" y="7722108"/>
            <a:ext cx="3497580" cy="630936"/>
            <a:chOff x="0" y="0"/>
            <a:chExt cx="4663440" cy="8412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Vision/text Transformer architecture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217152" y="7722108"/>
            <a:ext cx="3497580" cy="630936"/>
            <a:chOff x="0" y="0"/>
            <a:chExt cx="4663440" cy="8412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663440" cy="841248"/>
            </a:xfrm>
            <a:custGeom>
              <a:avLst/>
              <a:gdLst/>
              <a:ahLst/>
              <a:cxnLst/>
              <a:rect r="r" b="b" t="t" l="l"/>
              <a:pathLst>
                <a:path h="841248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4" r="0" b="-5801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663440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Captures contextual dependencies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31952" y="7722108"/>
            <a:ext cx="3593592" cy="630936"/>
            <a:chOff x="0" y="0"/>
            <a:chExt cx="4791456" cy="8412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791456" cy="841248"/>
            </a:xfrm>
            <a:custGeom>
              <a:avLst/>
              <a:gdLst/>
              <a:ahLst/>
              <a:cxnLst/>
              <a:rect r="r" b="b" t="t" l="l"/>
              <a:pathLst>
                <a:path h="841248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980" r="0" b="-6098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4791456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Often requires substantial data and compute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55357" y="8979218"/>
            <a:ext cx="16331565" cy="530733"/>
            <a:chOff x="0" y="0"/>
            <a:chExt cx="21775420" cy="70764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775421" cy="707644"/>
            </a:xfrm>
            <a:custGeom>
              <a:avLst/>
              <a:gdLst/>
              <a:ahLst/>
              <a:cxnLst/>
              <a:rect r="r" b="b" t="t" l="l"/>
              <a:pathLst>
                <a:path h="707644" w="21775421">
                  <a:moveTo>
                    <a:pt x="0" y="117983"/>
                  </a:moveTo>
                  <a:cubicBezTo>
                    <a:pt x="0" y="52832"/>
                    <a:pt x="52832" y="0"/>
                    <a:pt x="117983" y="0"/>
                  </a:cubicBezTo>
                  <a:lnTo>
                    <a:pt x="21657438" y="0"/>
                  </a:lnTo>
                  <a:cubicBezTo>
                    <a:pt x="21722589" y="0"/>
                    <a:pt x="21775421" y="52832"/>
                    <a:pt x="21775421" y="117983"/>
                  </a:cubicBezTo>
                  <a:lnTo>
                    <a:pt x="21775421" y="589661"/>
                  </a:lnTo>
                  <a:cubicBezTo>
                    <a:pt x="21775421" y="654812"/>
                    <a:pt x="21722589" y="707644"/>
                    <a:pt x="21657438" y="707644"/>
                  </a:cubicBezTo>
                  <a:lnTo>
                    <a:pt x="117983" y="707644"/>
                  </a:lnTo>
                  <a:cubicBezTo>
                    <a:pt x="52832" y="707644"/>
                    <a:pt x="0" y="654812"/>
                    <a:pt x="0" y="589661"/>
                  </a:cubicBezTo>
                  <a:close/>
                </a:path>
              </a:pathLst>
            </a:custGeom>
            <a:solidFill>
              <a:srgbClr val="F4F8F8"/>
            </a:solidFill>
            <a:ln w="9525" cap="sq">
              <a:solidFill>
                <a:srgbClr val="DCE6E7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"/>
              <a:ext cx="21775420" cy="717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Selected literature: AlKendi et al. (2024) • de Sousa Neto et al. (2024) • Li et al., TrOCR (AAAI 2023)</a:t>
              </a:r>
            </a:p>
          </p:txBody>
        </p:sp>
      </p:grpSp>
      <p:sp>
        <p:nvSpPr>
          <p:cNvPr name="Freeform 96" id="96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  LITERATURE SURVEY / EXISTING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1C3A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Research Gap is practical: Robustness, Cost and Usability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A practical HTR system should remain robust on imperfect handwriting while keeping deployment requirements manageable.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9932" y="2625852"/>
            <a:ext cx="7216140" cy="6489192"/>
            <a:chOff x="0" y="0"/>
            <a:chExt cx="9621520" cy="8652256"/>
          </a:xfrm>
        </p:grpSpPr>
        <p:sp>
          <p:nvSpPr>
            <p:cNvPr name="Freeform 12" id="12">
              <a:hlinkClick r:id="rId4" tooltip="https://chatgpt.com/backend-api/estuary/content?id=file_00000000645481f58db25960be6094c4&amp;ts=496929&amp;p=fs&amp;cid=1&amp;sig=b8fb067abd05092281404aa2562183d8997aef71471b6628a3c066c076fcdb54&amp;v=0"/>
            </p:cNvPr>
            <p:cNvSpPr/>
            <p:nvPr/>
          </p:nvSpPr>
          <p:spPr>
            <a:xfrm flipH="false" flipV="false" rot="0">
              <a:off x="0" y="0"/>
              <a:ext cx="9621520" cy="8652256"/>
            </a:xfrm>
            <a:custGeom>
              <a:avLst/>
              <a:gdLst/>
              <a:ahLst/>
              <a:cxnLst/>
              <a:rect r="r" b="b" t="t" l="l"/>
              <a:pathLst>
                <a:path h="8652256" w="962152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9474835" y="0"/>
                  </a:lnTo>
                  <a:cubicBezTo>
                    <a:pt x="9555861" y="0"/>
                    <a:pt x="9621520" y="65659"/>
                    <a:pt x="9621520" y="146685"/>
                  </a:cubicBezTo>
                  <a:lnTo>
                    <a:pt x="9621520" y="8505571"/>
                  </a:lnTo>
                  <a:cubicBezTo>
                    <a:pt x="9621520" y="8586597"/>
                    <a:pt x="9555861" y="8652256"/>
                    <a:pt x="9474835" y="8652256"/>
                  </a:cubicBezTo>
                  <a:lnTo>
                    <a:pt x="146685" y="8652256"/>
                  </a:lnTo>
                  <a:cubicBezTo>
                    <a:pt x="65659" y="8652256"/>
                    <a:pt x="0" y="8586597"/>
                    <a:pt x="0" y="8505571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99032" y="3044952"/>
            <a:ext cx="5074920" cy="246888"/>
            <a:chOff x="0" y="0"/>
            <a:chExt cx="6766560" cy="329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66560" cy="329184"/>
            </a:xfrm>
            <a:custGeom>
              <a:avLst/>
              <a:gdLst/>
              <a:ahLst/>
              <a:cxnLst/>
              <a:rect r="r" b="b" t="t" l="l"/>
              <a:pathLst>
                <a:path h="329184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525" r="0" b="-3505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7665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79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LIMITATIONS / RESEARCH GAP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99032" y="3634740"/>
            <a:ext cx="548640" cy="246888"/>
            <a:chOff x="0" y="0"/>
            <a:chExt cx="731520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61388" y="3586734"/>
            <a:ext cx="5280660" cy="342900"/>
            <a:chOff x="0" y="0"/>
            <a:chExt cx="7040880" cy="45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High variation in handwriting styles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6480">
            <a:off x="1393307" y="4096322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399032" y="4485132"/>
            <a:ext cx="548640" cy="246888"/>
            <a:chOff x="0" y="0"/>
            <a:chExt cx="731520" cy="3291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61388" y="4389120"/>
            <a:ext cx="5280660" cy="342900"/>
            <a:chOff x="0" y="0"/>
            <a:chExt cx="7040880" cy="457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Cursive and irregular text is difficult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 rot="6480">
            <a:off x="1393307" y="4946714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399032" y="5335524"/>
            <a:ext cx="548640" cy="246888"/>
            <a:chOff x="0" y="0"/>
            <a:chExt cx="731520" cy="3291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61388" y="5323926"/>
            <a:ext cx="5280660" cy="342900"/>
            <a:chOff x="0" y="0"/>
            <a:chExt cx="7040880" cy="457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Noisy or low-quality images reduce reliability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40706" y="5793295"/>
            <a:ext cx="6087617" cy="11475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399032" y="6185916"/>
            <a:ext cx="548640" cy="246888"/>
            <a:chOff x="0" y="0"/>
            <a:chExt cx="731520" cy="3291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" cy="329184"/>
            </a:xfrm>
            <a:custGeom>
              <a:avLst/>
              <a:gdLst/>
              <a:ahLst/>
              <a:cxnLst/>
              <a:rect r="r" b="b" t="t" l="l"/>
              <a:pathLst>
                <a:path h="329184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3152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61388" y="6174318"/>
            <a:ext cx="5280660" cy="342900"/>
            <a:chOff x="0" y="0"/>
            <a:chExt cx="704088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40880" cy="457200"/>
            </a:xfrm>
            <a:custGeom>
              <a:avLst/>
              <a:gdLst/>
              <a:ahLst/>
              <a:cxnLst/>
              <a:rect r="r" b="b" t="t" l="l"/>
              <a:pathLst>
                <a:path h="45720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069" r="0" b="-2500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704088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Advanced models can be computationally heavy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6480">
            <a:off x="1393307" y="6647497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947672" y="6765513"/>
            <a:ext cx="5280660" cy="640914"/>
            <a:chOff x="0" y="0"/>
            <a:chExt cx="7040880" cy="8545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40880" cy="854552"/>
            </a:xfrm>
            <a:custGeom>
              <a:avLst/>
              <a:gdLst/>
              <a:ahLst/>
              <a:cxnLst/>
              <a:rect r="r" b="b" t="t" l="l"/>
              <a:pathLst>
                <a:path h="854552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854552"/>
                  </a:lnTo>
                  <a:lnTo>
                    <a:pt x="0" y="8545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791" r="0" b="-8729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040880" cy="85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Practical deployment needs user-friendly workflows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6480">
            <a:off x="1393307" y="7497890"/>
            <a:ext cx="608762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391412" y="8057388"/>
            <a:ext cx="6118860" cy="673608"/>
            <a:chOff x="0" y="0"/>
            <a:chExt cx="8158480" cy="89814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58480" cy="898144"/>
            </a:xfrm>
            <a:custGeom>
              <a:avLst/>
              <a:gdLst/>
              <a:ahLst/>
              <a:cxnLst/>
              <a:rect r="r" b="b" t="t" l="l"/>
              <a:pathLst>
                <a:path h="898144" w="815848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8008747" y="0"/>
                  </a:lnTo>
                  <a:cubicBezTo>
                    <a:pt x="8091424" y="0"/>
                    <a:pt x="8158480" y="67056"/>
                    <a:pt x="8158480" y="149733"/>
                  </a:cubicBezTo>
                  <a:lnTo>
                    <a:pt x="8158480" y="748411"/>
                  </a:lnTo>
                  <a:cubicBezTo>
                    <a:pt x="8158480" y="831088"/>
                    <a:pt x="8091424" y="898144"/>
                    <a:pt x="8008747" y="898144"/>
                  </a:cubicBezTo>
                  <a:lnTo>
                    <a:pt x="149733" y="898144"/>
                  </a:lnTo>
                  <a:cubicBezTo>
                    <a:pt x="67056" y="898144"/>
                    <a:pt x="0" y="831088"/>
                    <a:pt x="0" y="748411"/>
                  </a:cubicBezTo>
                  <a:close/>
                </a:path>
              </a:pathLst>
            </a:custGeom>
            <a:solidFill>
              <a:srgbClr val="E8F7F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618488" y="8284464"/>
            <a:ext cx="5623560" cy="246888"/>
            <a:chOff x="0" y="0"/>
            <a:chExt cx="7498080" cy="3291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98080" cy="329184"/>
            </a:xfrm>
            <a:custGeom>
              <a:avLst/>
              <a:gdLst/>
              <a:ahLst/>
              <a:cxnLst/>
              <a:rect r="r" b="b" t="t" l="l"/>
              <a:pathLst>
                <a:path h="32918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74980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4C9B8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balance: accuracy  •  robustness  •  efficiency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399032" y="6736249"/>
            <a:ext cx="548640" cy="855726"/>
            <a:chOff x="0" y="0"/>
            <a:chExt cx="731520" cy="11409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" cy="1140968"/>
            </a:xfrm>
            <a:custGeom>
              <a:avLst/>
              <a:gdLst/>
              <a:ahLst/>
              <a:cxnLst/>
              <a:rect r="r" b="b" t="t" l="l"/>
              <a:pathLst>
                <a:path h="1140968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40968"/>
                  </a:lnTo>
                  <a:lnTo>
                    <a:pt x="0" y="1140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36" t="0" r="-7736" b="71148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31520" cy="1140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E7A35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8605481" y="2595479"/>
            <a:ext cx="9105802" cy="6619833"/>
          </a:xfrm>
          <a:custGeom>
            <a:avLst/>
            <a:gdLst/>
            <a:ahLst/>
            <a:cxnLst/>
            <a:rect r="r" b="b" t="t" l="l"/>
            <a:pathLst>
              <a:path h="6619833" w="9105802">
                <a:moveTo>
                  <a:pt x="0" y="0"/>
                </a:moveTo>
                <a:lnTo>
                  <a:pt x="9105802" y="0"/>
                </a:lnTo>
                <a:lnTo>
                  <a:pt x="9105802" y="6619833"/>
                </a:lnTo>
                <a:lnTo>
                  <a:pt x="0" y="6619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2688" y="480060"/>
            <a:ext cx="5212080" cy="246888"/>
            <a:chOff x="0" y="0"/>
            <a:chExt cx="6949440" cy="3291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49440" cy="329184"/>
            </a:xfrm>
            <a:custGeom>
              <a:avLst/>
              <a:gdLst/>
              <a:ahLst/>
              <a:cxnLst/>
              <a:rect r="r" b="b" t="t" l="l"/>
              <a:pathLst>
                <a:path h="329184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94944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210">
                  <a:solidFill>
                    <a:srgbClr val="3C8DA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  PROPOSED SYSTEM RESPONSE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2688" y="891540"/>
            <a:ext cx="15636240" cy="713232"/>
            <a:chOff x="0" y="0"/>
            <a:chExt cx="20848320" cy="9509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48320" cy="950976"/>
            </a:xfrm>
            <a:custGeom>
              <a:avLst/>
              <a:gdLst/>
              <a:ahLst/>
              <a:cxnLst/>
              <a:rect r="r" b="b" t="t" l="l"/>
              <a:pathLst>
                <a:path h="950976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172" r="0" b="-3771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84832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C3A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system: an end-to-end HTR pipeline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1728216"/>
            <a:ext cx="15636240" cy="384048"/>
            <a:chOff x="0" y="0"/>
            <a:chExt cx="2084832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48320" cy="512064"/>
            </a:xfrm>
            <a:custGeom>
              <a:avLst/>
              <a:gdLst/>
              <a:ahLst/>
              <a:cxnLst/>
              <a:rect r="r" b="b" t="t" l="l"/>
              <a:pathLst>
                <a:path h="512064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3319" r="0" b="-74331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084832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The workflow combines preprocessing, AI recognition and evaluation to produce editable digital text.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1080" y="2804160"/>
            <a:ext cx="3101340" cy="1866900"/>
            <a:chOff x="0" y="0"/>
            <a:chExt cx="4135120" cy="248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21080" y="2804160"/>
            <a:ext cx="111252" cy="1866900"/>
            <a:chOff x="0" y="0"/>
            <a:chExt cx="148336" cy="248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5588" y="3031236"/>
            <a:ext cx="2647188" cy="411480"/>
            <a:chOff x="0" y="0"/>
            <a:chExt cx="3529584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Input Image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75588" y="3525012"/>
            <a:ext cx="2674620" cy="946404"/>
            <a:chOff x="0" y="0"/>
            <a:chExt cx="3566160" cy="12618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Handwritten document or note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79595" y="3529203"/>
            <a:ext cx="773430" cy="403098"/>
            <a:chOff x="0" y="0"/>
            <a:chExt cx="1031240" cy="537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31240" cy="537464"/>
            </a:xfrm>
            <a:custGeom>
              <a:avLst/>
              <a:gdLst/>
              <a:ahLst/>
              <a:cxnLst/>
              <a:rect r="r" b="b" t="t" l="l"/>
              <a:pathLst>
                <a:path h="537464" w="1031240">
                  <a:moveTo>
                    <a:pt x="0" y="0"/>
                  </a:moveTo>
                  <a:lnTo>
                    <a:pt x="762508" y="0"/>
                  </a:lnTo>
                  <a:lnTo>
                    <a:pt x="1031240" y="268732"/>
                  </a:lnTo>
                  <a:lnTo>
                    <a:pt x="76250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286756" y="2804160"/>
            <a:ext cx="3101340" cy="1866900"/>
            <a:chOff x="0" y="0"/>
            <a:chExt cx="4135120" cy="248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E8F7F5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286756" y="2804160"/>
            <a:ext cx="111252" cy="1866900"/>
            <a:chOff x="0" y="0"/>
            <a:chExt cx="148336" cy="248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541264" y="3031236"/>
            <a:ext cx="2647188" cy="411480"/>
            <a:chOff x="0" y="0"/>
            <a:chExt cx="3529584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Preprocessing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541264" y="3525012"/>
            <a:ext cx="2674620" cy="946404"/>
            <a:chOff x="0" y="0"/>
            <a:chExt cx="3566160" cy="12618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Resize, normalize, reduce noise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645271" y="3529203"/>
            <a:ext cx="773430" cy="403098"/>
            <a:chOff x="0" y="0"/>
            <a:chExt cx="1031240" cy="5374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31240" cy="537464"/>
            </a:xfrm>
            <a:custGeom>
              <a:avLst/>
              <a:gdLst/>
              <a:ahLst/>
              <a:cxnLst/>
              <a:rect r="r" b="b" t="t" l="l"/>
              <a:pathLst>
                <a:path h="537464" w="1031240">
                  <a:moveTo>
                    <a:pt x="0" y="0"/>
                  </a:moveTo>
                  <a:lnTo>
                    <a:pt x="762508" y="0"/>
                  </a:lnTo>
                  <a:lnTo>
                    <a:pt x="1031240" y="268732"/>
                  </a:lnTo>
                  <a:lnTo>
                    <a:pt x="76250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52432" y="2804160"/>
            <a:ext cx="3101340" cy="1866900"/>
            <a:chOff x="0" y="0"/>
            <a:chExt cx="4135120" cy="248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E8F3F7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552432" y="2804160"/>
            <a:ext cx="111252" cy="1866900"/>
            <a:chOff x="0" y="0"/>
            <a:chExt cx="148336" cy="248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3C8DA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06940" y="3031236"/>
            <a:ext cx="2647188" cy="411480"/>
            <a:chOff x="0" y="0"/>
            <a:chExt cx="3529584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Recognition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806940" y="3525012"/>
            <a:ext cx="2674620" cy="946404"/>
            <a:chOff x="0" y="0"/>
            <a:chExt cx="3566160" cy="12618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Characters, words or sequences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910947" y="3529203"/>
            <a:ext cx="773430" cy="403098"/>
            <a:chOff x="0" y="0"/>
            <a:chExt cx="1031240" cy="537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31240" cy="537464"/>
            </a:xfrm>
            <a:custGeom>
              <a:avLst/>
              <a:gdLst/>
              <a:ahLst/>
              <a:cxnLst/>
              <a:rect r="r" b="b" t="t" l="l"/>
              <a:pathLst>
                <a:path h="537464" w="1031240">
                  <a:moveTo>
                    <a:pt x="0" y="0"/>
                  </a:moveTo>
                  <a:lnTo>
                    <a:pt x="762508" y="0"/>
                  </a:lnTo>
                  <a:lnTo>
                    <a:pt x="1031240" y="268732"/>
                  </a:lnTo>
                  <a:lnTo>
                    <a:pt x="762508" y="537464"/>
                  </a:lnTo>
                  <a:lnTo>
                    <a:pt x="0" y="537464"/>
                  </a:lnTo>
                  <a:lnTo>
                    <a:pt x="268732" y="268732"/>
                  </a:lnTo>
                  <a:close/>
                </a:path>
              </a:pathLst>
            </a:custGeom>
            <a:solidFill>
              <a:srgbClr val="73C7C8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818108" y="2804160"/>
            <a:ext cx="3101340" cy="1866900"/>
            <a:chOff x="0" y="0"/>
            <a:chExt cx="4135120" cy="248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35120" cy="2489200"/>
            </a:xfrm>
            <a:custGeom>
              <a:avLst/>
              <a:gdLst/>
              <a:ahLst/>
              <a:cxnLst/>
              <a:rect r="r" b="b" t="t" l="l"/>
              <a:pathLst>
                <a:path h="2489200" w="413512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3987673" y="0"/>
                  </a:lnTo>
                  <a:cubicBezTo>
                    <a:pt x="4069080" y="0"/>
                    <a:pt x="4135120" y="66040"/>
                    <a:pt x="4135120" y="147447"/>
                  </a:cubicBezTo>
                  <a:lnTo>
                    <a:pt x="4135120" y="2341753"/>
                  </a:lnTo>
                  <a:cubicBezTo>
                    <a:pt x="4135120" y="2423160"/>
                    <a:pt x="4069080" y="2489200"/>
                    <a:pt x="3987673" y="2489200"/>
                  </a:cubicBezTo>
                  <a:lnTo>
                    <a:pt x="147447" y="2489200"/>
                  </a:lnTo>
                  <a:cubicBezTo>
                    <a:pt x="66040" y="2489200"/>
                    <a:pt x="0" y="2423160"/>
                    <a:pt x="0" y="2341753"/>
                  </a:cubicBezTo>
                  <a:close/>
                </a:path>
              </a:pathLst>
            </a:custGeom>
            <a:solidFill>
              <a:srgbClr val="FFFFFF"/>
            </a:solidFill>
            <a:ln w="15240" cap="sq">
              <a:solidFill>
                <a:srgbClr val="C9E0E5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818108" y="2804160"/>
            <a:ext cx="111252" cy="1866900"/>
            <a:chOff x="0" y="0"/>
            <a:chExt cx="148336" cy="2489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8336" cy="2489200"/>
            </a:xfrm>
            <a:custGeom>
              <a:avLst/>
              <a:gdLst/>
              <a:ahLst/>
              <a:cxnLst/>
              <a:rect r="r" b="b" t="t" l="l"/>
              <a:pathLst>
                <a:path h="2489200" w="148336">
                  <a:moveTo>
                    <a:pt x="0" y="0"/>
                  </a:moveTo>
                  <a:lnTo>
                    <a:pt x="148336" y="0"/>
                  </a:lnTo>
                  <a:lnTo>
                    <a:pt x="148336" y="2489200"/>
                  </a:lnTo>
                  <a:lnTo>
                    <a:pt x="0" y="2489200"/>
                  </a:lnTo>
                  <a:close/>
                </a:path>
              </a:pathLst>
            </a:custGeom>
            <a:solidFill>
              <a:srgbClr val="E7A35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072616" y="3031236"/>
            <a:ext cx="2647188" cy="411480"/>
            <a:chOff x="0" y="0"/>
            <a:chExt cx="3529584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29584" cy="548640"/>
            </a:xfrm>
            <a:custGeom>
              <a:avLst/>
              <a:gdLst/>
              <a:ahLst/>
              <a:cxnLst/>
              <a:rect r="r" b="b" t="t" l="l"/>
              <a:pathLst>
                <a:path h="548640" w="3529584">
                  <a:moveTo>
                    <a:pt x="0" y="0"/>
                  </a:moveTo>
                  <a:lnTo>
                    <a:pt x="3529584" y="0"/>
                  </a:lnTo>
                  <a:lnTo>
                    <a:pt x="35295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353" r="0" b="-7535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529584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53B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Digital Output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72616" y="3525012"/>
            <a:ext cx="2674620" cy="946404"/>
            <a:chOff x="0" y="0"/>
            <a:chExt cx="3566160" cy="12618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6616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566160">
                  <a:moveTo>
                    <a:pt x="0" y="0"/>
                  </a:moveTo>
                  <a:lnTo>
                    <a:pt x="3566160" y="0"/>
                  </a:lnTo>
                  <a:lnTo>
                    <a:pt x="356616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56616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D7480"/>
                  </a:solidFill>
                  <a:latin typeface="Aptos"/>
                  <a:ea typeface="Aptos"/>
                  <a:cs typeface="Aptos"/>
                  <a:sym typeface="Aptos"/>
                </a:rPr>
                <a:t>Editable and searchable text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8058" y="5413279"/>
            <a:ext cx="3600650" cy="380693"/>
            <a:chOff x="0" y="0"/>
            <a:chExt cx="4800867" cy="50759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00867" cy="507590"/>
            </a:xfrm>
            <a:custGeom>
              <a:avLst/>
              <a:gdLst/>
              <a:ahLst/>
              <a:cxnLst/>
              <a:rect r="r" b="b" t="t" l="l"/>
              <a:pathLst>
                <a:path h="507590" w="4800867">
                  <a:moveTo>
                    <a:pt x="0" y="0"/>
                  </a:moveTo>
                  <a:lnTo>
                    <a:pt x="4800867" y="0"/>
                  </a:lnTo>
                  <a:lnTo>
                    <a:pt x="4800867" y="507590"/>
                  </a:lnTo>
                  <a:lnTo>
                    <a:pt x="0" y="507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019" r="16195" b="-8687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800867" cy="507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 spc="223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RESPONSE :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947672" y="6240780"/>
            <a:ext cx="6309360" cy="274320"/>
            <a:chOff x="0" y="0"/>
            <a:chExt cx="8412480" cy="3657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841248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Limited handwriting robustness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947672" y="6844284"/>
            <a:ext cx="6309360" cy="274320"/>
            <a:chOff x="0" y="0"/>
            <a:chExt cx="8412480" cy="3657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9525"/>
              <a:ext cx="841248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Manual or inconsistent preprocessing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947672" y="7447788"/>
            <a:ext cx="6309360" cy="274320"/>
            <a:chOff x="0" y="0"/>
            <a:chExt cx="8412480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84124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May require high computational resources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47672" y="8051292"/>
            <a:ext cx="6309360" cy="274320"/>
            <a:chOff x="0" y="0"/>
            <a:chExt cx="8412480" cy="36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412480" cy="365760"/>
            </a:xfrm>
            <a:custGeom>
              <a:avLst/>
              <a:gdLst/>
              <a:ahLst/>
              <a:cxnLst/>
              <a:rect r="r" b="b" t="t" l="l"/>
              <a:pathLst>
                <a:path h="36576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841248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5B707D"/>
                  </a:solidFill>
                  <a:latin typeface="Aptos"/>
                  <a:ea typeface="Aptos"/>
                  <a:cs typeface="Aptos"/>
                  <a:sym typeface="Aptos"/>
                </a:rPr>
                <a:t>Deployment can be resource-intensive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122408" y="6240780"/>
            <a:ext cx="6720840" cy="274320"/>
            <a:chOff x="0" y="0"/>
            <a:chExt cx="8961120" cy="36576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89611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AI-based handwriting recognition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122408" y="6844284"/>
            <a:ext cx="6720840" cy="274320"/>
            <a:chOff x="0" y="0"/>
            <a:chExt cx="8961120" cy="3657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896112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Image preprocessing pipeline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122408" y="7447788"/>
            <a:ext cx="6720840" cy="274320"/>
            <a:chOff x="0" y="0"/>
            <a:chExt cx="8961120" cy="3657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896112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C3A4E"/>
                  </a:solidFill>
                  <a:latin typeface="Aptos"/>
                  <a:ea typeface="Aptos"/>
                  <a:cs typeface="Aptos"/>
                  <a:sym typeface="Aptos"/>
                </a:rPr>
                <a:t>CER / WER / accuracy evaluation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122408" y="8051292"/>
            <a:ext cx="6720840" cy="274320"/>
            <a:chOff x="0" y="0"/>
            <a:chExt cx="8961120" cy="3657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961120" cy="365760"/>
            </a:xfrm>
            <a:custGeom>
              <a:avLst/>
              <a:gdLst/>
              <a:ahLst/>
              <a:cxnLst/>
              <a:rect r="r" b="b" t="t" l="l"/>
              <a:pathLst>
                <a:path h="3657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7383" r="0" b="-42738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9525"/>
              <a:ext cx="8961120" cy="356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9313C"/>
                  </a:solidFill>
                  <a:latin typeface="Aptos"/>
                  <a:ea typeface="Aptos"/>
                  <a:cs typeface="Aptos"/>
                  <a:sym typeface="Aptos"/>
                </a:rPr>
                <a:t>Editable digital output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62228" y="8798052"/>
            <a:ext cx="15870936" cy="536448"/>
            <a:chOff x="0" y="0"/>
            <a:chExt cx="21161248" cy="7152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161248" cy="715264"/>
            </a:xfrm>
            <a:custGeom>
              <a:avLst/>
              <a:gdLst/>
              <a:ahLst/>
              <a:cxnLst/>
              <a:rect r="r" b="b" t="t" l="l"/>
              <a:pathLst>
                <a:path h="715264" w="21161248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21010626" y="0"/>
                  </a:lnTo>
                  <a:cubicBezTo>
                    <a:pt x="21093812" y="0"/>
                    <a:pt x="21161248" y="67437"/>
                    <a:pt x="21161248" y="150622"/>
                  </a:cubicBezTo>
                  <a:lnTo>
                    <a:pt x="21161248" y="564642"/>
                  </a:lnTo>
                  <a:cubicBezTo>
                    <a:pt x="21161248" y="647827"/>
                    <a:pt x="21093812" y="715264"/>
                    <a:pt x="21010626" y="715264"/>
                  </a:cubicBezTo>
                  <a:lnTo>
                    <a:pt x="150622" y="715264"/>
                  </a:lnTo>
                  <a:cubicBezTo>
                    <a:pt x="67437" y="715264"/>
                    <a:pt x="0" y="647827"/>
                    <a:pt x="0" y="564642"/>
                  </a:cubicBezTo>
                  <a:close/>
                </a:path>
              </a:pathLst>
            </a:custGeom>
            <a:solidFill>
              <a:srgbClr val="E8F7F5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71600" y="8970264"/>
            <a:ext cx="15224760" cy="246888"/>
            <a:chOff x="0" y="0"/>
            <a:chExt cx="20299680" cy="32918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299680" cy="329184"/>
            </a:xfrm>
            <a:custGeom>
              <a:avLst/>
              <a:gdLst/>
              <a:ahLst/>
              <a:cxnLst/>
              <a:rect r="r" b="b" t="t" l="l"/>
              <a:pathLst>
                <a:path h="329184" w="20299680">
                  <a:moveTo>
                    <a:pt x="0" y="0"/>
                  </a:moveTo>
                  <a:lnTo>
                    <a:pt x="20299680" y="0"/>
                  </a:lnTo>
                  <a:lnTo>
                    <a:pt x="202996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1577" r="0" b="-115157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2029968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1C3A4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focus: robust recognition • measurable evaluation • practical usability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3180">
            <a:off x="883920" y="9706166"/>
            <a:ext cx="16515598" cy="0"/>
          </a:xfrm>
          <a:prstGeom prst="line">
            <a:avLst/>
          </a:prstGeom>
          <a:ln cap="rnd" w="9525">
            <a:solidFill>
              <a:srgbClr val="C9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16596360" y="9765792"/>
            <a:ext cx="685800" cy="246888"/>
            <a:chOff x="0" y="0"/>
            <a:chExt cx="914400" cy="3291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4400" cy="329184"/>
            </a:xfrm>
            <a:custGeom>
              <a:avLst/>
              <a:gdLst/>
              <a:ahLst/>
              <a:cxnLst/>
              <a:rect r="r" b="b" t="t" l="l"/>
              <a:pathLst>
                <a:path h="329184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5" r="0" b="-412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1440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 b="true">
                  <a:solidFill>
                    <a:srgbClr val="5B707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15667818" y="147825"/>
            <a:ext cx="2470625" cy="1004319"/>
          </a:xfrm>
          <a:custGeom>
            <a:avLst/>
            <a:gdLst/>
            <a:ahLst/>
            <a:cxnLst/>
            <a:rect r="r" b="b" t="t" l="l"/>
            <a:pathLst>
              <a:path h="1004319" w="2470625">
                <a:moveTo>
                  <a:pt x="0" y="0"/>
                </a:moveTo>
                <a:lnTo>
                  <a:pt x="2470625" y="0"/>
                </a:lnTo>
                <a:lnTo>
                  <a:pt x="2470625" y="1004319"/>
                </a:lnTo>
                <a:lnTo>
                  <a:pt x="0" y="10043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2358807" y="7246996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5" id="95"/>
          <p:cNvSpPr/>
          <p:nvPr/>
        </p:nvSpPr>
        <p:spPr>
          <a:xfrm flipH="false" flipV="false" rot="0">
            <a:off x="9552432" y="6155922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9552432" y="6723783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9552432" y="7387800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9552432" y="7966434"/>
            <a:ext cx="429050" cy="444036"/>
          </a:xfrm>
          <a:custGeom>
            <a:avLst/>
            <a:gdLst/>
            <a:ahLst/>
            <a:cxnLst/>
            <a:rect r="r" b="b" t="t" l="l"/>
            <a:pathLst>
              <a:path h="444036" w="429050">
                <a:moveTo>
                  <a:pt x="0" y="0"/>
                </a:moveTo>
                <a:lnTo>
                  <a:pt x="429050" y="0"/>
                </a:lnTo>
                <a:lnTo>
                  <a:pt x="429050" y="444036"/>
                </a:lnTo>
                <a:lnTo>
                  <a:pt x="0" y="4440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1427988" y="6155922"/>
            <a:ext cx="387797" cy="387797"/>
          </a:xfrm>
          <a:custGeom>
            <a:avLst/>
            <a:gdLst/>
            <a:ahLst/>
            <a:cxnLst/>
            <a:rect r="r" b="b" t="t" l="l"/>
            <a:pathLst>
              <a:path h="387797" w="387797">
                <a:moveTo>
                  <a:pt x="0" y="0"/>
                </a:moveTo>
                <a:lnTo>
                  <a:pt x="387797" y="0"/>
                </a:lnTo>
                <a:lnTo>
                  <a:pt x="387797" y="387797"/>
                </a:lnTo>
                <a:lnTo>
                  <a:pt x="0" y="3877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1413036" y="6780023"/>
            <a:ext cx="387797" cy="387797"/>
          </a:xfrm>
          <a:custGeom>
            <a:avLst/>
            <a:gdLst/>
            <a:ahLst/>
            <a:cxnLst/>
            <a:rect r="r" b="b" t="t" l="l"/>
            <a:pathLst>
              <a:path h="387797" w="387797">
                <a:moveTo>
                  <a:pt x="0" y="0"/>
                </a:moveTo>
                <a:lnTo>
                  <a:pt x="387797" y="0"/>
                </a:lnTo>
                <a:lnTo>
                  <a:pt x="387797" y="387796"/>
                </a:lnTo>
                <a:lnTo>
                  <a:pt x="0" y="387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1" id="101"/>
          <p:cNvSpPr/>
          <p:nvPr/>
        </p:nvSpPr>
        <p:spPr>
          <a:xfrm flipH="false" flipV="false" rot="0">
            <a:off x="1427988" y="7387800"/>
            <a:ext cx="387797" cy="387797"/>
          </a:xfrm>
          <a:custGeom>
            <a:avLst/>
            <a:gdLst/>
            <a:ahLst/>
            <a:cxnLst/>
            <a:rect r="r" b="b" t="t" l="l"/>
            <a:pathLst>
              <a:path h="387797" w="387797">
                <a:moveTo>
                  <a:pt x="0" y="0"/>
                </a:moveTo>
                <a:lnTo>
                  <a:pt x="387797" y="0"/>
                </a:lnTo>
                <a:lnTo>
                  <a:pt x="387797" y="387796"/>
                </a:lnTo>
                <a:lnTo>
                  <a:pt x="0" y="387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427988" y="7994554"/>
            <a:ext cx="372845" cy="387797"/>
          </a:xfrm>
          <a:custGeom>
            <a:avLst/>
            <a:gdLst/>
            <a:ahLst/>
            <a:cxnLst/>
            <a:rect r="r" b="b" t="t" l="l"/>
            <a:pathLst>
              <a:path h="387797" w="372845">
                <a:moveTo>
                  <a:pt x="0" y="0"/>
                </a:moveTo>
                <a:lnTo>
                  <a:pt x="372845" y="0"/>
                </a:lnTo>
                <a:lnTo>
                  <a:pt x="372845" y="387796"/>
                </a:lnTo>
                <a:lnTo>
                  <a:pt x="0" y="3877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01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1427988" y="5499004"/>
            <a:ext cx="3600650" cy="380693"/>
            <a:chOff x="0" y="0"/>
            <a:chExt cx="4800867" cy="50759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800867" cy="507590"/>
            </a:xfrm>
            <a:custGeom>
              <a:avLst/>
              <a:gdLst/>
              <a:ahLst/>
              <a:cxnLst/>
              <a:rect r="r" b="b" t="t" l="l"/>
              <a:pathLst>
                <a:path h="507590" w="4800867">
                  <a:moveTo>
                    <a:pt x="0" y="0"/>
                  </a:moveTo>
                  <a:lnTo>
                    <a:pt x="4800867" y="0"/>
                  </a:lnTo>
                  <a:lnTo>
                    <a:pt x="4800867" y="507590"/>
                  </a:lnTo>
                  <a:lnTo>
                    <a:pt x="0" y="507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019" r="16195" b="-8687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4800867" cy="507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b="true" sz="2049" spc="223">
                  <a:solidFill>
                    <a:srgbClr val="379BA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COMMON CHALLENGES :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DAHUsA8cMNE</dc:identifier>
  <dcterms:modified xsi:type="dcterms:W3CDTF">2011-08-01T06:04:30Z</dcterms:modified>
  <cp:revision>1</cp:revision>
  <dc:title>AI_Handwritten_Text_Recognition_Second_Project_Review_FINAL_Audited_FINAL.pptx</dc:title>
</cp:coreProperties>
</file>